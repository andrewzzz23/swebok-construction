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047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(30 s). Saludo, nombres del equipo y tema: Flutter, el kit de Google para crear apps multiplataforma con un solo código. Duración total: 15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(20 s). Seguimos los cinco puntos que pide la guía. Dejamos la mayor parte del tiempo para el ejemplo práctico, que mostramos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 (2 min). Flutter nace en Google en 2015 con el nombre "Sky", un experimento para dibujar interfaces muy fluidas en Android. En 2017 sale la alfa y en diciembre de 2018 la versión 1.0. Flutter 2 (2021) agrega web estable y null safety; Flutter 3 (2022) completa el soporte de escritorio. Luego llegan Dart 3, el motor gráfico Impeller y la compilación a WebAssembly. Hoy (octubre 2026) la versión estable es la 3.47, con lanzamientos trimestrales; la 3.50 está prevista para noviembre.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(1 min). Flutter es un framework de interfaz, no un lenguaje: el lenguaje es Dart. La clave es la arquitectura por capas: nuestro código y el framework están en Dart; debajo hay un motor en C++ que dibuja directamente en pantalla (Impeller); y un "embebedor" conecta con cada sistema operativo. Por eso no depende de los botones nativos y se ve idéntico en todas partes.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Dart (1 min). Pregunta típica: ¿Dart es compilado o interpretado? Respuesta: es compilado, pero tiene dos modos. En desarrollo usa JIT (just in time), que compila sobre la marcha y permite el hot reload. Al publicar usa AOT (ahead of time), que convierte todo a código máquina nativo, por eso la app final es rápida. Además es orientado a objetos (parecido a Java/C#) y tiene null safety: el compilador no deja usar una variable que podría ser nula sin verificarla.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Widgets (1 min). Un widget es cualquier pieza de la interfaz; la app completa es un árbol de widgets. Hay dos tipos: Stateless (no cambia, como un texto fijo) y Stateful (tiene datos que cambian, como nuestra lista de tareas). Material y Cupertino son dos "catálogos" de widgets ya hechos: Material es el diseño de Google (Android) y Cupertino imita a iOS (Cupertino es la ciudad en California donde está Apple). En el ejemplo usamos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Características (2 min). Hot reload: cambias el código, guardas, y el cambio aparece en menos de un segundo sin perder lo que había en pantalla (lo mostramos en vivo). UI declarativa: no se modifican los controles uno por uno; se cambian los datos y Flutter redibuja la pantalla a partir de ellos. pub.dev: el repositorio oficial de paquetes, como npm en JavaScript; se agregan con "flutter pub add". Rendimiento: en producción Dart compila a código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Casos de éxito (2 min). Mencionar que no es solo para proyectos pequeños: Google Pay, Nubank (muy cercano a nosotros porque opera en Colombia), BMW, Alibaba, eBay Motors y Toyota, que lo usa incluso fuera del celular, en pantallas de carro. Cada tarjeta tiene su enlace "Ver caso" a la página oficial; abrir uno en modo presentación si hay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Instalación (1 min 30 s). Contar el proceso en Windows, que es lo que usamos en clase. Importante: no instalar el SDK en "Archivos de programa" porque requiere permisos; usar una ruta sin espacios como C:\src\flutter. Después de Android Studio, flutter doctor nos dice qué falta. Para compilar a iOS se necesita un Mac con Xcode. Opción sin instalar nada: dartpad.dev en el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(1 min 30 s). Explicar el flujo: flutter create genera un proyecto completo; flutter run lo lanza en el emulador o celular conectado. Mientras corre, la tecla r hace hot reload. Casi todo nuestro trabajo vive en lib/main.dart y las dependencias en pubspec.yaml. Al final, flutter build apk genera el instalador.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Ejemplo, idea (40 s). Antes del código, mostrar el árbol: la pantalla (Scaffold) tiene una barra superior, un cuerpo en columna con el campo de texto y la lista, y el botón flotante. Así se piensa en Flutter: componer widgets dentro de widgets.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parte 1 (1 min). main() lanza la app. Tareas es un StatefulWidget porque su contenido cambia. En el estado guardamos la lista de textos y un controlador para el campo de texto. La función _agregar valida que no esté vacío, agrega dentro de setState (eso es lo que hace que la pantalla se actualice) y limpia el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parte 2 y demo (2 min 30 s). build() describe la pantalla con el mismo árbol que vimos. Luego pasar al editor: flutter run, agregar tareas, y en vivo cambiar 'Mis tareas' por otro texto o el color del tema y pulsar r: el cambio aparece al instante y la lista sigue ahí; ese es el hot reload. Si el emulador falla, usar DartPad.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(1 min). Flutter conviene cuando se quiere llegar a Android e iOS (y quizá web/escritorio) con un solo equipo. No es la mejor opción si la app depende de funciones del sistema recién lanzadas o si es un sitio web que necesita posicionamiento en buscadores.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(30 s). Agradecer, abrir preguntas y dejar los recursos para que los compañeros practiquen; DartPad permite probar el ejemplo sin instalar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2" y="1127754"/>
            <a:ext cx="10566436" cy="502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2" y="1935413"/>
            <a:ext cx="10566418" cy="410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2" y="1127754"/>
            <a:ext cx="10566436" cy="502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2" y="1935413"/>
            <a:ext cx="10566418" cy="410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flutter.dev/showcase/google-pay" TargetMode="External"/><Relationship Id="rId4" Type="http://schemas.openxmlformats.org/officeDocument/2006/relationships/hyperlink" Target="https://flutter.dev/showcase/nubank" TargetMode="External"/><Relationship Id="rId5" Type="http://schemas.openxmlformats.org/officeDocument/2006/relationships/hyperlink" Target="https://flutter.dev/showcase/bmw" TargetMode="External"/><Relationship Id="rId6" Type="http://schemas.openxmlformats.org/officeDocument/2006/relationships/hyperlink" Target="https://flutter.dev/showcase/alibaba-group" TargetMode="External"/><Relationship Id="rId7" Type="http://schemas.openxmlformats.org/officeDocument/2006/relationships/hyperlink" Target="https://flutter.dev/showcase/ebay" TargetMode="External"/><Relationship Id="rId8" Type="http://schemas.openxmlformats.org/officeDocument/2006/relationships/hyperlink" Target="https://flutter.dev/showcase/toyota" TargetMode="External"/><Relationship Id="rId9" Type="http://schemas.openxmlformats.org/officeDocument/2006/relationships/hyperlink" Target="https://flutter.dev/showcas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2449" y="-160421"/>
            <a:ext cx="12496800" cy="7018421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60000">
                <a:srgbClr val="0F2E57"/>
              </a:gs>
              <a:gs pos="100000">
                <a:srgbClr val="145DA0"/>
              </a:gs>
            </a:gsLst>
            <a:lin ang="2700000" scaled="0"/>
          </a:gra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5" name="Text 1"/>
          <p:cNvSpPr/>
          <p:nvPr/>
        </p:nvSpPr>
        <p:spPr>
          <a:xfrm>
            <a:off x="812782" y="81278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8CC8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ACTUALIZACIÓN TECNOLÓGICA · DESARROLLO DE APLICACIONES MÓVILES</a:t>
            </a:r>
            <a:endParaRPr lang="en-US" sz="1200" dirty="0"/>
          </a:p>
        </p:txBody>
      </p:sp>
      <p:sp>
        <p:nvSpPr>
          <p:cNvPr id="6" name="Text 2"/>
          <p:cNvSpPr>
            <a:spLocks noGrp="1"/>
          </p:cNvSpPr>
          <p:nvPr>
            <p:ph type="title"/>
          </p:nvPr>
        </p:nvSpPr>
        <p:spPr>
          <a:xfrm>
            <a:off x="812782" y="2343096"/>
            <a:ext cx="10883336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0000"/>
              </a:lnSpc>
              <a:buNone/>
            </a:pPr>
            <a:r>
              <a:rPr lang="en-US" sz="10000" b="1" i="0" kern="0" spc="-200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</a:t>
            </a:r>
            <a:endParaRPr lang="en-US" sz="10000" dirty="0"/>
          </a:p>
        </p:txBody>
      </p:sp>
      <p:sp>
        <p:nvSpPr>
          <p:cNvPr id="7" name="Text 3"/>
          <p:cNvSpPr/>
          <p:nvPr/>
        </p:nvSpPr>
        <p:spPr>
          <a:xfrm>
            <a:off x="4410057" y="3692449"/>
            <a:ext cx="7194550" cy="38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860"/>
              </a:lnSpc>
              <a:buNone/>
            </a:pPr>
            <a:r>
              <a:rPr lang="en-US" sz="2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solo código para Android, iOS, web y escritorio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994256" y="5409153"/>
            <a:ext cx="10883336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Jairo Andrés Zubieta Bermudez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2782" y="5834333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DB8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Ingeniería de Sistemas · Universidad del Tolima · Tutoría IV </a:t>
            </a:r>
            <a:endParaRPr lang="en-US" sz="1200" dirty="0"/>
          </a:p>
        </p:txBody>
      </p:sp>
      <p:pic>
        <p:nvPicPr>
          <p:cNvPr id="1028" name="Picture 4" descr="Archivo tipo flutter - Icono gratis PNG, SVG, ICO, ICNS | Icon-Icons">
            <a:extLst>
              <a:ext uri="{FF2B5EF4-FFF2-40B4-BE49-F238E27FC236}">
                <a16:creationId xmlns:a16="http://schemas.microsoft.com/office/drawing/2014/main" id="{DE593F1B-86D9-411E-A5CD-8600A382B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30" y="1558239"/>
            <a:ext cx="2963779" cy="2963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14" descr="Dart logo with geometric icon and bold text PNG Image – Free Download |  CleanPNG - CleanPNG">
            <a:extLst>
              <a:ext uri="{FF2B5EF4-FFF2-40B4-BE49-F238E27FC236}">
                <a16:creationId xmlns:a16="http://schemas.microsoft.com/office/drawing/2014/main" id="{DB482B4C-DAD2-44D5-A981-04AD687761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42" name="Picture 18" descr="A Programming Language Called Dart. What is it and how is it used?">
            <a:extLst>
              <a:ext uri="{FF2B5EF4-FFF2-40B4-BE49-F238E27FC236}">
                <a16:creationId xmlns:a16="http://schemas.microsoft.com/office/drawing/2014/main" id="{499245D9-BC2D-41F7-85C7-1458BFE5CE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47" b="19917"/>
          <a:stretch/>
        </p:blipFill>
        <p:spPr bwMode="auto">
          <a:xfrm>
            <a:off x="495882" y="5306875"/>
            <a:ext cx="3083676" cy="102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127756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veremos en 15 minutos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2" y="1992529"/>
            <a:ext cx="10566436" cy="0"/>
          </a:xfrm>
          <a:prstGeom prst="line">
            <a:avLst/>
          </a:prstGeom>
          <a:noFill/>
          <a:ln w="12700">
            <a:solidFill>
              <a:srgbClr val="D6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82" y="2137352"/>
            <a:ext cx="685800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01782" y="2137352"/>
            <a:ext cx="930627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Reseña histórica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91002" y="2226197"/>
            <a:ext cx="43901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782" y="2674522"/>
            <a:ext cx="10566436" cy="0"/>
          </a:xfrm>
          <a:prstGeom prst="line">
            <a:avLst/>
          </a:prstGeom>
          <a:noFill/>
          <a:ln w="12700">
            <a:solidFill>
              <a:srgbClr val="D6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82" y="2819346"/>
            <a:ext cx="685800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01782" y="2819346"/>
            <a:ext cx="9303954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Principales características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88747" y="2908191"/>
            <a:ext cx="44127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82" y="3356516"/>
            <a:ext cx="10566436" cy="0"/>
          </a:xfrm>
          <a:prstGeom prst="line">
            <a:avLst/>
          </a:prstGeom>
          <a:noFill/>
          <a:ln w="12700">
            <a:solidFill>
              <a:srgbClr val="D6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782" y="3501339"/>
            <a:ext cx="685800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01782" y="3501339"/>
            <a:ext cx="930627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Proyectos reconocidos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91002" y="3590185"/>
            <a:ext cx="43901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82" y="4038509"/>
            <a:ext cx="10566436" cy="0"/>
          </a:xfrm>
          <a:prstGeom prst="line">
            <a:avLst/>
          </a:prstGeom>
          <a:noFill/>
          <a:ln w="12700">
            <a:solidFill>
              <a:srgbClr val="D6E1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82" y="4183333"/>
            <a:ext cx="685800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01782" y="4183333"/>
            <a:ext cx="9303954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Guía de instalación y uso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88747" y="4272179"/>
            <a:ext cx="44127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782" y="4720503"/>
            <a:ext cx="10566436" cy="0"/>
          </a:xfrm>
          <a:prstGeom prst="line">
            <a:avLst/>
          </a:prstGeom>
          <a:noFill/>
          <a:ln w="12700">
            <a:solidFill>
              <a:srgbClr val="D6E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782" y="5401342"/>
            <a:ext cx="10566436" cy="0"/>
          </a:xfrm>
          <a:prstGeom prst="line">
            <a:avLst/>
          </a:prstGeom>
          <a:noFill/>
          <a:ln w="12700">
            <a:solidFill>
              <a:srgbClr val="D6E1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782" y="4865326"/>
            <a:ext cx="685800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01782" y="4865326"/>
            <a:ext cx="9300981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Ejemplo práctico en vivo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85860" y="4954172"/>
            <a:ext cx="44415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RESEÑA HISTÓRICA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127756"/>
            <a:ext cx="10883429" cy="1031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un experimento de Google a estándar multiplataforma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2" y="2539819"/>
            <a:ext cx="1422436" cy="209198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2" y="2539819"/>
            <a:ext cx="1422436" cy="2091982"/>
          </a:xfrm>
          <a:custGeom>
            <a:avLst/>
            <a:gdLst/>
            <a:ahLst/>
            <a:cxnLst/>
            <a:rect l="l" t="t" r="r" b="b"/>
            <a:pathLst>
              <a:path w="1422436" h="2091982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346236" y="0"/>
                </a:lnTo>
                <a:arcTo wR="76200" hR="76200" stAng="16200000" swAng="5400000"/>
                <a:lnTo>
                  <a:pt x="1422436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9DB8D6"/>
          </a:solidFill>
          <a:ln/>
        </p:spPr>
      </p:sp>
      <p:sp>
        <p:nvSpPr>
          <p:cNvPr id="6" name="Text 4"/>
          <p:cNvSpPr/>
          <p:nvPr/>
        </p:nvSpPr>
        <p:spPr>
          <a:xfrm>
            <a:off x="939782" y="2752237"/>
            <a:ext cx="12192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9782" y="3219557"/>
            <a:ext cx="1219236" cy="125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Nace como «Sky» en el Dart Developer Summit: dibujar a 120 fps en Android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6782" y="2539819"/>
            <a:ext cx="1422436" cy="209198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336782" y="2539819"/>
            <a:ext cx="1422436" cy="2091982"/>
          </a:xfrm>
          <a:custGeom>
            <a:avLst/>
            <a:gdLst/>
            <a:ahLst/>
            <a:cxnLst/>
            <a:rect l="l" t="t" r="r" b="b"/>
            <a:pathLst>
              <a:path w="1422436" h="2091982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346236" y="0"/>
                </a:lnTo>
                <a:arcTo wR="76200" hR="76200" stAng="16200000" swAng="5400000"/>
                <a:lnTo>
                  <a:pt x="1422436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9DB8D6"/>
          </a:solidFill>
          <a:ln/>
        </p:spPr>
      </p:sp>
      <p:sp>
        <p:nvSpPr>
          <p:cNvPr id="10" name="Text 8"/>
          <p:cNvSpPr/>
          <p:nvPr/>
        </p:nvSpPr>
        <p:spPr>
          <a:xfrm>
            <a:off x="2463782" y="2752237"/>
            <a:ext cx="12192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3782" y="3219557"/>
            <a:ext cx="1219236" cy="642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Primera versión alfa, presentada en Google I/O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60782" y="2539819"/>
            <a:ext cx="1422436" cy="209198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860782" y="2539819"/>
            <a:ext cx="1422436" cy="2091982"/>
          </a:xfrm>
          <a:custGeom>
            <a:avLst/>
            <a:gdLst/>
            <a:ahLst/>
            <a:cxnLst/>
            <a:rect l="l" t="t" r="r" b="b"/>
            <a:pathLst>
              <a:path w="1422436" h="2091982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346236" y="0"/>
                </a:lnTo>
                <a:arcTo wR="76200" hR="76200" stAng="16200000" swAng="5400000"/>
                <a:lnTo>
                  <a:pt x="1422436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1E88E5"/>
          </a:solidFill>
          <a:ln/>
        </p:spPr>
      </p:sp>
      <p:sp>
        <p:nvSpPr>
          <p:cNvPr id="14" name="Text 12"/>
          <p:cNvSpPr/>
          <p:nvPr/>
        </p:nvSpPr>
        <p:spPr>
          <a:xfrm>
            <a:off x="3987782" y="2752237"/>
            <a:ext cx="12192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87782" y="3219557"/>
            <a:ext cx="1219236" cy="848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1.0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estable en el evento Flutter Live (diciembre)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84782" y="2539819"/>
            <a:ext cx="1422436" cy="209198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384782" y="2539819"/>
            <a:ext cx="1422436" cy="2091982"/>
          </a:xfrm>
          <a:custGeom>
            <a:avLst/>
            <a:gdLst/>
            <a:ahLst/>
            <a:cxnLst/>
            <a:rect l="l" t="t" r="r" b="b"/>
            <a:pathLst>
              <a:path w="1422436" h="2091982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346236" y="0"/>
                </a:lnTo>
                <a:arcTo wR="76200" hR="76200" stAng="16200000" swAng="5400000"/>
                <a:lnTo>
                  <a:pt x="1422436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9DB8D6"/>
          </a:solidFill>
          <a:ln/>
        </p:spPr>
      </p:sp>
      <p:sp>
        <p:nvSpPr>
          <p:cNvPr id="18" name="Text 16"/>
          <p:cNvSpPr/>
          <p:nvPr/>
        </p:nvSpPr>
        <p:spPr>
          <a:xfrm>
            <a:off x="5511782" y="2752237"/>
            <a:ext cx="12192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11782" y="3219557"/>
            <a:ext cx="1219236" cy="642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2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web estable y null safety en Dart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8781" y="2539819"/>
            <a:ext cx="1422436" cy="209198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8781" y="2539819"/>
            <a:ext cx="1422436" cy="2091982"/>
          </a:xfrm>
          <a:custGeom>
            <a:avLst/>
            <a:gdLst/>
            <a:ahLst/>
            <a:cxnLst/>
            <a:rect l="l" t="t" r="r" b="b"/>
            <a:pathLst>
              <a:path w="1422436" h="2091982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346236" y="0"/>
                </a:lnTo>
                <a:arcTo wR="76200" hR="76200" stAng="16200000" swAng="5400000"/>
                <a:lnTo>
                  <a:pt x="1422436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1E88E5"/>
          </a:solidFill>
          <a:ln/>
        </p:spPr>
      </p:sp>
      <p:sp>
        <p:nvSpPr>
          <p:cNvPr id="22" name="Text 20"/>
          <p:cNvSpPr/>
          <p:nvPr/>
        </p:nvSpPr>
        <p:spPr>
          <a:xfrm>
            <a:off x="7035781" y="2752237"/>
            <a:ext cx="12192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35781" y="3219557"/>
            <a:ext cx="1219236" cy="125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3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estable en 6 plataformas, incluidos Windows, macOS y Linux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32781" y="2539819"/>
            <a:ext cx="1422436" cy="209198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2781" y="2539819"/>
            <a:ext cx="1422436" cy="2091982"/>
          </a:xfrm>
          <a:custGeom>
            <a:avLst/>
            <a:gdLst/>
            <a:ahLst/>
            <a:cxnLst/>
            <a:rect l="l" t="t" r="r" b="b"/>
            <a:pathLst>
              <a:path w="1422436" h="2091982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346236" y="0"/>
                </a:lnTo>
                <a:arcTo wR="76200" hR="76200" stAng="16200000" swAng="5400000"/>
                <a:lnTo>
                  <a:pt x="1422436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9DB8D6"/>
          </a:solidFill>
          <a:ln/>
        </p:spPr>
      </p:sp>
      <p:sp>
        <p:nvSpPr>
          <p:cNvPr id="26" name="Text 24"/>
          <p:cNvSpPr/>
          <p:nvPr/>
        </p:nvSpPr>
        <p:spPr>
          <a:xfrm>
            <a:off x="8559781" y="2752237"/>
            <a:ext cx="12192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559781" y="3219557"/>
            <a:ext cx="1219236" cy="1054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Motor </a:t>
            </a: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Impeller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móviles y WebAssembly para web (tras Dart 3, 2023)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56781" y="2539819"/>
            <a:ext cx="1422436" cy="2091982"/>
          </a:xfrm>
          <a:prstGeom prst="roundRect">
            <a:avLst>
              <a:gd name="adj" fmla="val 5357"/>
            </a:avLst>
          </a:prstGeom>
          <a:solidFill>
            <a:srgbClr val="0F2E57"/>
          </a:solidFill>
          <a:ln/>
        </p:spPr>
      </p:sp>
      <p:sp>
        <p:nvSpPr>
          <p:cNvPr id="29" name="Shape 27"/>
          <p:cNvSpPr/>
          <p:nvPr/>
        </p:nvSpPr>
        <p:spPr>
          <a:xfrm>
            <a:off x="9956781" y="2539819"/>
            <a:ext cx="1422436" cy="2091982"/>
          </a:xfrm>
          <a:custGeom>
            <a:avLst/>
            <a:gdLst/>
            <a:ahLst/>
            <a:cxnLst/>
            <a:rect l="l" t="t" r="r" b="b"/>
            <a:pathLst>
              <a:path w="1422436" h="2091982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1346236" y="0"/>
                </a:lnTo>
                <a:arcTo wR="76200" hR="76200" stAng="16200000" swAng="5400000"/>
                <a:lnTo>
                  <a:pt x="1422436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5EC8F2"/>
          </a:solidFill>
          <a:ln/>
        </p:spPr>
      </p:sp>
      <p:sp>
        <p:nvSpPr>
          <p:cNvPr id="30" name="Text 28"/>
          <p:cNvSpPr/>
          <p:nvPr/>
        </p:nvSpPr>
        <p:spPr>
          <a:xfrm>
            <a:off x="10083781" y="2752237"/>
            <a:ext cx="121923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83781" y="3219557"/>
            <a:ext cx="1219236" cy="1054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3.47</a:t>
            </a:r>
            <a:r>
              <a:rPr lang="en-US" sz="1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estable (agosto); Impeller llega también a escritorio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03 · Fuentes: docs.flutter.dev (archivo de versiones)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1277936"/>
            <a:ext cx="512778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¿QUÉ ES FLUTTER?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694475"/>
            <a:ext cx="5127789" cy="153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kit de UI que dibuja cada píxel por su cuenta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2" y="3406178"/>
            <a:ext cx="5127789" cy="1203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 </a:t>
            </a:r>
            <a:r>
              <a:rPr lang="en-US" sz="16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source</a:t>
            </a: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Google, escrito en </a:t>
            </a:r>
            <a:r>
              <a:rPr lang="en-US" sz="16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Dart</a:t>
            </a: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No usa los componentes nativos: trae su propio motor gráfico, por eso la app se ve igual en todas las plataformas.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82" y="4787664"/>
            <a:ext cx="5127789" cy="61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es un </a:t>
            </a:r>
            <a:r>
              <a:rPr lang="en-US" sz="16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widget</a:t>
            </a: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botones, textos, márgenes y hasta la app completa.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782" y="1455538"/>
            <a:ext cx="4978436" cy="878808"/>
          </a:xfrm>
          <a:prstGeom prst="roundRect">
            <a:avLst>
              <a:gd name="adj" fmla="val 10116"/>
            </a:avLst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6629346" y="1633320"/>
            <a:ext cx="4656947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346" y="1943153"/>
            <a:ext cx="465694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3F0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Código Dart · widgets propios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782" y="2410473"/>
            <a:ext cx="4978436" cy="878808"/>
          </a:xfrm>
          <a:prstGeom prst="roundRect">
            <a:avLst>
              <a:gd name="adj" fmla="val 10116"/>
            </a:avLst>
          </a:prstGeom>
          <a:solidFill>
            <a:srgbClr val="145DA0"/>
          </a:solidFill>
          <a:ln/>
        </p:spPr>
      </p:sp>
      <p:sp>
        <p:nvSpPr>
          <p:cNvPr id="10" name="Text 8"/>
          <p:cNvSpPr/>
          <p:nvPr/>
        </p:nvSpPr>
        <p:spPr>
          <a:xfrm>
            <a:off x="6629346" y="2588256"/>
            <a:ext cx="4656947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 (Dart)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346" y="2898088"/>
            <a:ext cx="465694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2E4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Material · Cupertino · Widgets · Animaciones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782" y="3365409"/>
            <a:ext cx="4978436" cy="878808"/>
          </a:xfrm>
          <a:prstGeom prst="roundRect">
            <a:avLst>
              <a:gd name="adj" fmla="val 10116"/>
            </a:avLst>
          </a:prstGeom>
          <a:solidFill>
            <a:srgbClr val="0F2E57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346" y="3543191"/>
            <a:ext cx="4656947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Motor (C++)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346" y="3853024"/>
            <a:ext cx="465694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Impeller / Skia · runtime de Dart · texto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782" y="4320344"/>
            <a:ext cx="4978436" cy="878808"/>
          </a:xfrm>
          <a:prstGeom prst="roundRect">
            <a:avLst>
              <a:gd name="adj" fmla="val 10116"/>
            </a:avLst>
          </a:prstGeom>
          <a:solidFill>
            <a:srgbClr val="0B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346" y="4498127"/>
            <a:ext cx="4656947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Embebedor por plataforma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346" y="4807959"/>
            <a:ext cx="465694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DB8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 · iOS · Web · Windows · macOS · Linux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EL LENGUAJE: DART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127754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Dart es compilado, pero de dos formas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57" y="1955890"/>
            <a:ext cx="4876295" cy="1660976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555" y="2187051"/>
            <a:ext cx="4493992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MIENTRAS DESARROLLAS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2555" y="2476590"/>
            <a:ext cx="4493992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JIT · Just In Time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2555" y="2887985"/>
            <a:ext cx="4493992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Compila sobre la marcha. Por eso existe el </a:t>
            </a:r>
            <a:r>
              <a:rPr lang="en-US" sz="14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hot reload</a:t>
            </a:r>
            <a:r>
              <a:rPr lang="en-US" sz="14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ves los cambios al instante.</a:t>
            </a:r>
            <a:endParaRPr lang="en-US" sz="14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7773" y="2659332"/>
            <a:ext cx="508000" cy="25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08118" y="1935395"/>
            <a:ext cx="4871099" cy="1701962"/>
          </a:xfrm>
          <a:prstGeom prst="roundRect">
            <a:avLst>
              <a:gd name="adj" fmla="val 5970"/>
            </a:avLst>
          </a:prstGeom>
          <a:solidFill>
            <a:srgbClr val="0F2E57"/>
          </a:solidFill>
          <a:ln/>
        </p:spPr>
      </p:sp>
      <p:sp>
        <p:nvSpPr>
          <p:cNvPr id="10" name="Shape 7"/>
          <p:cNvSpPr/>
          <p:nvPr/>
        </p:nvSpPr>
        <p:spPr>
          <a:xfrm>
            <a:off x="6508118" y="1935395"/>
            <a:ext cx="4871099" cy="1701962"/>
          </a:xfrm>
          <a:custGeom>
            <a:avLst/>
            <a:gdLst/>
            <a:ahLst/>
            <a:cxnLst/>
            <a:rect l="l" t="t" r="r" b="b"/>
            <a:pathLst>
              <a:path w="4871099" h="1701962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4769499" y="0"/>
                </a:lnTo>
                <a:arcTo wR="101600" hR="101600" stAng="16200000" swAng="5400000"/>
                <a:lnTo>
                  <a:pt x="4871099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5EC8F2"/>
          </a:solidFill>
          <a:ln/>
        </p:spPr>
      </p:sp>
      <p:sp>
        <p:nvSpPr>
          <p:cNvPr id="11" name="Text 8"/>
          <p:cNvSpPr/>
          <p:nvPr/>
        </p:nvSpPr>
        <p:spPr>
          <a:xfrm>
            <a:off x="6762118" y="2210141"/>
            <a:ext cx="4493992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EC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CUANDO PUBLICAS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2118" y="2499680"/>
            <a:ext cx="4493992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AOT · Ahead Of Time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762118" y="2911078"/>
            <a:ext cx="4493992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Compila todo a </a:t>
            </a:r>
            <a:r>
              <a:rPr lang="en-US" sz="1400" b="1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código máquina</a:t>
            </a:r>
            <a:r>
              <a:rPr lang="en-US" sz="14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antes de instalar: la app final es rápida, como una nativa.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2782" y="3942141"/>
            <a:ext cx="3420521" cy="982897"/>
          </a:xfrm>
          <a:prstGeom prst="roundRect">
            <a:avLst>
              <a:gd name="adj" fmla="val 7753"/>
            </a:avLst>
          </a:prstGeom>
          <a:solidFill>
            <a:srgbClr val="E8F1FB"/>
          </a:solidFill>
          <a:ln/>
        </p:spPr>
      </p:sp>
      <p:sp>
        <p:nvSpPr>
          <p:cNvPr id="15" name="Text 12"/>
          <p:cNvSpPr/>
          <p:nvPr/>
        </p:nvSpPr>
        <p:spPr>
          <a:xfrm>
            <a:off x="990564" y="4094485"/>
            <a:ext cx="31569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Orientado a objetos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90564" y="4345871"/>
            <a:ext cx="315690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Clases y herencia, parecido a Java o C#.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85649" y="3942141"/>
            <a:ext cx="3420611" cy="982897"/>
          </a:xfrm>
          <a:prstGeom prst="roundRect">
            <a:avLst>
              <a:gd name="adj" fmla="val 7753"/>
            </a:avLst>
          </a:prstGeom>
          <a:solidFill>
            <a:srgbClr val="E8F1FB"/>
          </a:solidFill>
          <a:ln/>
        </p:spPr>
      </p:sp>
      <p:sp>
        <p:nvSpPr>
          <p:cNvPr id="18" name="Text 15"/>
          <p:cNvSpPr/>
          <p:nvPr/>
        </p:nvSpPr>
        <p:spPr>
          <a:xfrm>
            <a:off x="4563431" y="4094485"/>
            <a:ext cx="31569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safety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63431" y="4345871"/>
            <a:ext cx="3156999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compilador evita errores por valores nulos.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8606" y="3942141"/>
            <a:ext cx="3420611" cy="982897"/>
          </a:xfrm>
          <a:prstGeom prst="roundRect">
            <a:avLst>
              <a:gd name="adj" fmla="val 7753"/>
            </a:avLst>
          </a:prstGeom>
          <a:solidFill>
            <a:srgbClr val="E8F1FB"/>
          </a:solidFill>
          <a:ln/>
        </p:spPr>
      </p:sp>
      <p:sp>
        <p:nvSpPr>
          <p:cNvPr id="21" name="Text 18"/>
          <p:cNvSpPr/>
          <p:nvPr/>
        </p:nvSpPr>
        <p:spPr>
          <a:xfrm>
            <a:off x="8136388" y="4094485"/>
            <a:ext cx="31569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Creado por Google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136388" y="4345871"/>
            <a:ext cx="315699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Presentado en 2011; es la base de Flutter.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WIDGETS, MATERIAL Y CUPERTINO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127754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 en Flutter es un widget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2" y="1884614"/>
            <a:ext cx="4042442" cy="1610140"/>
          </a:xfrm>
          <a:prstGeom prst="roundRect">
            <a:avLst>
              <a:gd name="adj" fmla="val 6310"/>
            </a:avLst>
          </a:prstGeom>
          <a:solidFill>
            <a:srgbClr val="0F2E57"/>
          </a:solidFill>
          <a:ln/>
        </p:spPr>
      </p:sp>
      <p:sp>
        <p:nvSpPr>
          <p:cNvPr id="5" name="Text 3"/>
          <p:cNvSpPr/>
          <p:nvPr/>
        </p:nvSpPr>
        <p:spPr>
          <a:xfrm>
            <a:off x="1041346" y="2087742"/>
            <a:ext cx="3692874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¿Qué es un widget?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346" y="2407676"/>
            <a:ext cx="3692874" cy="909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pieza de la interfaz: un texto, un botón, un margen o una pantalla entera. Los widgets se anidan unos dentro de otros y forman un </a:t>
            </a:r>
            <a:r>
              <a:rPr lang="en-US" sz="1200" b="1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árbol</a:t>
            </a:r>
            <a:r>
              <a:rPr lang="en-US" sz="1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como piezas de Lego.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10745" y="1887789"/>
            <a:ext cx="3103256" cy="1603790"/>
          </a:xfrm>
          <a:prstGeom prst="roundRect">
            <a:avLst>
              <a:gd name="adj" fmla="val 6137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41907" y="2093516"/>
            <a:ext cx="2720160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Stateless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41907" y="2413450"/>
            <a:ext cx="2720160" cy="467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cambia después de dibujarse.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Ej.: </a:t>
            </a: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72697" y="1887789"/>
            <a:ext cx="3103346" cy="1603790"/>
          </a:xfrm>
          <a:prstGeom prst="roundRect">
            <a:avLst>
              <a:gd name="adj" fmla="val 6137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858" y="2093516"/>
            <a:ext cx="2720253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Stateful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858" y="2413450"/>
            <a:ext cx="2720253" cy="68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Tiene datos que cambian y se redibuja.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Ej.: </a:t>
            </a: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Checkbox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nuestra lista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782" y="3748754"/>
            <a:ext cx="5207000" cy="1722347"/>
          </a:xfrm>
          <a:prstGeom prst="roundRect">
            <a:avLst>
              <a:gd name="adj" fmla="val 5899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782" y="3748754"/>
            <a:ext cx="5207000" cy="1722347"/>
          </a:xfrm>
          <a:custGeom>
            <a:avLst/>
            <a:gdLst/>
            <a:ahLst/>
            <a:cxnLst/>
            <a:rect l="l" t="t" r="r" b="b"/>
            <a:pathLst>
              <a:path w="5207000" h="1722347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105400" y="0"/>
                </a:lnTo>
                <a:arcTo wR="101600" hR="101600" stAng="16200000" swAng="5400000"/>
                <a:lnTo>
                  <a:pt x="52070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1E88E5"/>
          </a:solidFill>
          <a:ln/>
        </p:spPr>
      </p:sp>
      <p:sp>
        <p:nvSpPr>
          <p:cNvPr id="15" name="Text 13"/>
          <p:cNvSpPr/>
          <p:nvPr/>
        </p:nvSpPr>
        <p:spPr>
          <a:xfrm>
            <a:off x="1041346" y="3998063"/>
            <a:ext cx="4892368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41346" y="4434895"/>
            <a:ext cx="4892368" cy="467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sistema de diseño de </a:t>
            </a: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típico de Android. Es el estilo por defecto en Flutter.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1346" y="4978434"/>
            <a:ext cx="1183589" cy="289538"/>
          </a:xfrm>
          <a:prstGeom prst="roundRect">
            <a:avLst>
              <a:gd name="adj" fmla="val 17545"/>
            </a:avLst>
          </a:prstGeom>
          <a:solidFill>
            <a:srgbClr val="E3F0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F2E5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MaterialApp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01063" y="4978434"/>
            <a:ext cx="726371" cy="289538"/>
          </a:xfrm>
          <a:prstGeom prst="roundRect">
            <a:avLst>
              <a:gd name="adj" fmla="val 17545"/>
            </a:avLst>
          </a:prstGeom>
          <a:solidFill>
            <a:srgbClr val="E3F0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F2E5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AppBar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3562" y="4978434"/>
            <a:ext cx="1457884" cy="289538"/>
          </a:xfrm>
          <a:prstGeom prst="roundRect">
            <a:avLst>
              <a:gd name="adj" fmla="val 17545"/>
            </a:avLst>
          </a:prstGeom>
          <a:solidFill>
            <a:srgbClr val="E3F0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F2E5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ElevatedButton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128" y="3748754"/>
            <a:ext cx="5207090" cy="1722347"/>
          </a:xfrm>
          <a:prstGeom prst="roundRect">
            <a:avLst>
              <a:gd name="adj" fmla="val 589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128" y="3748754"/>
            <a:ext cx="5207090" cy="1722347"/>
          </a:xfrm>
          <a:custGeom>
            <a:avLst/>
            <a:gdLst/>
            <a:ahLst/>
            <a:cxnLst/>
            <a:rect l="l" t="t" r="r" b="b"/>
            <a:pathLst>
              <a:path w="5207090" h="1722347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105490" y="0"/>
                </a:lnTo>
                <a:arcTo wR="101600" hR="101600" stAng="16200000" swAng="5400000"/>
                <a:lnTo>
                  <a:pt x="520709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6B7F9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691" y="3998063"/>
            <a:ext cx="4892461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3D4F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Cupertino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691" y="4434895"/>
            <a:ext cx="4892461" cy="467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Imita el diseño de </a:t>
            </a: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Apple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(iOS). Su nombre viene de la ciudad sede de Apple.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691" y="4978434"/>
            <a:ext cx="1275051" cy="289538"/>
          </a:xfrm>
          <a:prstGeom prst="roundRect">
            <a:avLst>
              <a:gd name="adj" fmla="val 17545"/>
            </a:avLst>
          </a:prstGeom>
          <a:solidFill>
            <a:srgbClr val="ECEFF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CupertinoApp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51870" y="4978434"/>
            <a:ext cx="1549346" cy="289538"/>
          </a:xfrm>
          <a:prstGeom prst="roundRect">
            <a:avLst>
              <a:gd name="adj" fmla="val 17545"/>
            </a:avLst>
          </a:prstGeom>
          <a:solidFill>
            <a:srgbClr val="ECEFF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CupertinoButton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77344" y="4978434"/>
            <a:ext cx="1549346" cy="289538"/>
          </a:xfrm>
          <a:prstGeom prst="roundRect">
            <a:avLst>
              <a:gd name="adj" fmla="val 17545"/>
            </a:avLst>
          </a:prstGeom>
          <a:solidFill>
            <a:srgbClr val="ECEFF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234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CupertinoSwitch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06 · Se pueden mezclar: una app Material puede usar widgets Cupertino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PRINCIPALES CARACTERÍSTICAS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127754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Seis razones por las que se adopta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57" y="1887789"/>
            <a:ext cx="3414171" cy="1651054"/>
          </a:xfrm>
          <a:prstGeom prst="roundRect">
            <a:avLst>
              <a:gd name="adj" fmla="val 5961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pic>
        <p:nvPicPr>
          <p:cNvPr id="5" name="Image 0" descr="Co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683" y="2068168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683" y="2398297"/>
            <a:ext cx="3092802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solo código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1683" y="2718231"/>
            <a:ext cx="3092802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Android, iOS, web, Windows, macOS y Linux desde el mismo proyecto.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8824" y="1887789"/>
            <a:ext cx="3414261" cy="1651054"/>
          </a:xfrm>
          <a:prstGeom prst="roundRect">
            <a:avLst>
              <a:gd name="adj" fmla="val 5961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pic>
        <p:nvPicPr>
          <p:cNvPr id="9" name="Image 1" descr="Light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4549" y="2068168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4549" y="2398297"/>
            <a:ext cx="3092895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Hot reload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94549" y="2718231"/>
            <a:ext cx="3092895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Aplica los cambios del código al instante, </a:t>
            </a: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reiniciar la app ni perder los datos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pantalla.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61781" y="1887789"/>
            <a:ext cx="3414261" cy="1651054"/>
          </a:xfrm>
          <a:prstGeom prst="roundRect">
            <a:avLst>
              <a:gd name="adj" fmla="val 5961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pic>
        <p:nvPicPr>
          <p:cNvPr id="13" name="Image 2" descr="Activit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7507" y="2068168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7507" y="2398297"/>
            <a:ext cx="3092895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Rendimiento nativo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67507" y="2718231"/>
            <a:ext cx="3092895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Dart se compila (AOT) a código máquina; el motor apunta a 60–120 fps.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57" y="3697539"/>
            <a:ext cx="3414171" cy="1651054"/>
          </a:xfrm>
          <a:prstGeom prst="roundRect">
            <a:avLst>
              <a:gd name="adj" fmla="val 5961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pic>
        <p:nvPicPr>
          <p:cNvPr id="17" name="Image 3" descr="Sta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1683" y="3877918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1683" y="4208047"/>
            <a:ext cx="3092802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 declarativa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021683" y="4527981"/>
            <a:ext cx="3092802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Describes </a:t>
            </a: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debe verse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 pantalla según los datos y Flutter la redibuja sola.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88824" y="3697539"/>
            <a:ext cx="3414261" cy="1651054"/>
          </a:xfrm>
          <a:prstGeom prst="roundRect">
            <a:avLst>
              <a:gd name="adj" fmla="val 5961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pic>
        <p:nvPicPr>
          <p:cNvPr id="21" name="Image 4" descr="Databas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94549" y="3877918"/>
            <a:ext cx="254000" cy="254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4549" y="4208047"/>
            <a:ext cx="3092895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Paquetes en pub.dev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594549" y="4527981"/>
            <a:ext cx="3092895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pub.dev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 el repositorio oficial de librerías listas: Firebase, mapas, cámara, HTTP…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61781" y="3697539"/>
            <a:ext cx="3414261" cy="1651054"/>
          </a:xfrm>
          <a:prstGeom prst="roundRect">
            <a:avLst>
              <a:gd name="adj" fmla="val 5961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pic>
        <p:nvPicPr>
          <p:cNvPr id="25" name="Image 5" descr="Users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67507" y="3877918"/>
            <a:ext cx="254000" cy="254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67507" y="4208047"/>
            <a:ext cx="3092895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source y gratis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167507" y="4527981"/>
            <a:ext cx="3092895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Licencia BSD, respaldo de Google y una comunidad muy activa.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4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EC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PROYECTOS RECONOCIDOS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127758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Empresas que confían en Flutter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2" y="1935398"/>
            <a:ext cx="3420521" cy="1722167"/>
          </a:xfrm>
          <a:prstGeom prst="roundRect">
            <a:avLst>
              <a:gd name="adj" fmla="val 5900"/>
            </a:avLst>
          </a:prstGeom>
          <a:solidFill>
            <a:srgbClr val="132A47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2" y="1935398"/>
            <a:ext cx="3420521" cy="1722167"/>
          </a:xfrm>
          <a:custGeom>
            <a:avLst/>
            <a:gdLst/>
            <a:ahLst/>
            <a:cxnLst/>
            <a:rect l="l" t="t" r="r" b="b"/>
            <a:pathLst>
              <a:path w="3420521" h="1722167">
                <a:moveTo>
                  <a:pt x="101600" y="1722167"/>
                </a:moveTo>
                <a:lnTo>
                  <a:pt x="101600" y="1722167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63500" hR="101600" stAng="16200000" swAng="-5400000"/>
                <a:lnTo>
                  <a:pt x="38100" y="1620567"/>
                </a:lnTo>
                <a:arcTo wR="63500" hR="101600" stAng="10800000" swAng="-5400000"/>
                <a:close/>
              </a:path>
            </a:pathLst>
          </a:custGeom>
          <a:solidFill>
            <a:srgbClr val="5EC8F2"/>
          </a:solidFill>
          <a:ln/>
        </p:spPr>
      </p:sp>
      <p:sp>
        <p:nvSpPr>
          <p:cNvPr id="6" name="Text 4"/>
          <p:cNvSpPr/>
          <p:nvPr/>
        </p:nvSpPr>
        <p:spPr>
          <a:xfrm>
            <a:off x="1075982" y="2138527"/>
            <a:ext cx="3016620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Pay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5982" y="2537296"/>
            <a:ext cx="3016620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3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Reescrita en Flutter para unificar sus apps de Android e iOS.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5982" y="3027617"/>
            <a:ext cx="301662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5EC8F2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caso 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649" y="1935398"/>
            <a:ext cx="3420611" cy="1722167"/>
          </a:xfrm>
          <a:prstGeom prst="roundRect">
            <a:avLst>
              <a:gd name="adj" fmla="val 5900"/>
            </a:avLst>
          </a:prstGeom>
          <a:solidFill>
            <a:srgbClr val="132A47"/>
          </a:solidFill>
          <a:ln/>
        </p:spPr>
      </p:sp>
      <p:sp>
        <p:nvSpPr>
          <p:cNvPr id="10" name="Shape 8"/>
          <p:cNvSpPr/>
          <p:nvPr/>
        </p:nvSpPr>
        <p:spPr>
          <a:xfrm>
            <a:off x="4385649" y="1935398"/>
            <a:ext cx="3420611" cy="1722167"/>
          </a:xfrm>
          <a:custGeom>
            <a:avLst/>
            <a:gdLst/>
            <a:ahLst/>
            <a:cxnLst/>
            <a:rect l="l" t="t" r="r" b="b"/>
            <a:pathLst>
              <a:path w="3420611" h="1722167">
                <a:moveTo>
                  <a:pt x="101600" y="1722167"/>
                </a:moveTo>
                <a:lnTo>
                  <a:pt x="101600" y="1722167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63500" hR="101600" stAng="16200000" swAng="-5400000"/>
                <a:lnTo>
                  <a:pt x="38100" y="1620567"/>
                </a:lnTo>
                <a:arcTo wR="63500" hR="101600" stAng="10800000" swAng="-5400000"/>
                <a:close/>
              </a:path>
            </a:pathLst>
          </a:custGeom>
          <a:solidFill>
            <a:srgbClr val="5EC8F2"/>
          </a:solidFill>
          <a:ln/>
        </p:spPr>
      </p:sp>
      <p:sp>
        <p:nvSpPr>
          <p:cNvPr id="11" name="Text 9"/>
          <p:cNvSpPr/>
          <p:nvPr/>
        </p:nvSpPr>
        <p:spPr>
          <a:xfrm>
            <a:off x="4648849" y="2138527"/>
            <a:ext cx="3016713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Nubank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8849" y="2537296"/>
            <a:ext cx="3016713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3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Banco digital latinoamericano (Brasil, México, Colombia); su app móvil usa Flutter.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8849" y="3241027"/>
            <a:ext cx="301671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5EC8F2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caso 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8606" y="1935398"/>
            <a:ext cx="3420611" cy="1722167"/>
          </a:xfrm>
          <a:prstGeom prst="roundRect">
            <a:avLst>
              <a:gd name="adj" fmla="val 5900"/>
            </a:avLst>
          </a:prstGeom>
          <a:solidFill>
            <a:srgbClr val="132A47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8606" y="1935398"/>
            <a:ext cx="3420611" cy="1722167"/>
          </a:xfrm>
          <a:custGeom>
            <a:avLst/>
            <a:gdLst/>
            <a:ahLst/>
            <a:cxnLst/>
            <a:rect l="l" t="t" r="r" b="b"/>
            <a:pathLst>
              <a:path w="3420611" h="1722167">
                <a:moveTo>
                  <a:pt x="101600" y="1722167"/>
                </a:moveTo>
                <a:lnTo>
                  <a:pt x="101600" y="1722167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63500" hR="101600" stAng="16200000" swAng="-5400000"/>
                <a:lnTo>
                  <a:pt x="38100" y="1620567"/>
                </a:lnTo>
                <a:arcTo wR="63500" hR="101600" stAng="10800000" swAng="-5400000"/>
                <a:close/>
              </a:path>
            </a:pathLst>
          </a:custGeom>
          <a:solidFill>
            <a:srgbClr val="5EC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1807" y="2138527"/>
            <a:ext cx="3016713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BMW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1807" y="2537296"/>
            <a:ext cx="301671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3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«My BMW» para controlar el vehículo, en decenas de países.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1807" y="3027617"/>
            <a:ext cx="301671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5EC8F2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caso 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782" y="3809910"/>
            <a:ext cx="3420521" cy="1508756"/>
          </a:xfrm>
          <a:prstGeom prst="roundRect">
            <a:avLst>
              <a:gd name="adj" fmla="val 6734"/>
            </a:avLst>
          </a:prstGeom>
          <a:solidFill>
            <a:srgbClr val="132A47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82" y="3809910"/>
            <a:ext cx="3420521" cy="1508756"/>
          </a:xfrm>
          <a:custGeom>
            <a:avLst/>
            <a:gdLst/>
            <a:ahLst/>
            <a:cxnLst/>
            <a:rect l="l" t="t" r="r" b="b"/>
            <a:pathLst>
              <a:path w="3420521" h="1508756">
                <a:moveTo>
                  <a:pt x="101600" y="1508756"/>
                </a:moveTo>
                <a:lnTo>
                  <a:pt x="101600" y="1508756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63500" hR="101600" stAng="16200000" swAng="-5400000"/>
                <a:lnTo>
                  <a:pt x="38100" y="1407156"/>
                </a:lnTo>
                <a:arcTo wR="63500" hR="101600" stAng="10800000" swAng="-5400000"/>
                <a:close/>
              </a:path>
            </a:pathLst>
          </a:custGeom>
          <a:solidFill>
            <a:srgbClr val="5EC8F2"/>
          </a:solidFill>
          <a:ln/>
        </p:spPr>
      </p:sp>
      <p:sp>
        <p:nvSpPr>
          <p:cNvPr id="21" name="Text 19"/>
          <p:cNvSpPr/>
          <p:nvPr/>
        </p:nvSpPr>
        <p:spPr>
          <a:xfrm>
            <a:off x="1075982" y="4013039"/>
            <a:ext cx="3016620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Alibaba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75982" y="4411808"/>
            <a:ext cx="3016620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3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Xianyu, su mercado de segunda mano, fue de los primeros grandes casos.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5982" y="4902129"/>
            <a:ext cx="301662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5EC8F2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caso 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5649" y="3809910"/>
            <a:ext cx="3420611" cy="1508756"/>
          </a:xfrm>
          <a:prstGeom prst="roundRect">
            <a:avLst>
              <a:gd name="adj" fmla="val 6734"/>
            </a:avLst>
          </a:prstGeom>
          <a:solidFill>
            <a:srgbClr val="132A47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5649" y="3809910"/>
            <a:ext cx="3420611" cy="1508756"/>
          </a:xfrm>
          <a:custGeom>
            <a:avLst/>
            <a:gdLst/>
            <a:ahLst/>
            <a:cxnLst/>
            <a:rect l="l" t="t" r="r" b="b"/>
            <a:pathLst>
              <a:path w="3420611" h="1508756">
                <a:moveTo>
                  <a:pt x="101600" y="1508756"/>
                </a:moveTo>
                <a:lnTo>
                  <a:pt x="101600" y="1508756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63500" hR="101600" stAng="16200000" swAng="-5400000"/>
                <a:lnTo>
                  <a:pt x="38100" y="1407156"/>
                </a:lnTo>
                <a:arcTo wR="63500" hR="101600" stAng="10800000" swAng="-5400000"/>
                <a:close/>
              </a:path>
            </a:pathLst>
          </a:custGeom>
          <a:solidFill>
            <a:srgbClr val="5EC8F2"/>
          </a:solidFill>
          <a:ln/>
        </p:spPr>
      </p:sp>
      <p:sp>
        <p:nvSpPr>
          <p:cNvPr id="26" name="Text 24"/>
          <p:cNvSpPr/>
          <p:nvPr/>
        </p:nvSpPr>
        <p:spPr>
          <a:xfrm>
            <a:off x="4648849" y="4013039"/>
            <a:ext cx="3016713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eBay Motors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48849" y="4411808"/>
            <a:ext cx="301671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3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Compra y venta de vehículos; reutiliza casi todo el código entre plataformas.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48849" y="4902129"/>
            <a:ext cx="301671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5EC8F2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caso 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8606" y="3809910"/>
            <a:ext cx="3420611" cy="1508756"/>
          </a:xfrm>
          <a:prstGeom prst="roundRect">
            <a:avLst>
              <a:gd name="adj" fmla="val 6734"/>
            </a:avLst>
          </a:prstGeom>
          <a:solidFill>
            <a:srgbClr val="132A47"/>
          </a:solidFill>
          <a:ln/>
        </p:spPr>
      </p:sp>
      <p:sp>
        <p:nvSpPr>
          <p:cNvPr id="30" name="Shape 28"/>
          <p:cNvSpPr/>
          <p:nvPr/>
        </p:nvSpPr>
        <p:spPr>
          <a:xfrm>
            <a:off x="7958606" y="3809910"/>
            <a:ext cx="3420611" cy="1508756"/>
          </a:xfrm>
          <a:custGeom>
            <a:avLst/>
            <a:gdLst/>
            <a:ahLst/>
            <a:cxnLst/>
            <a:rect l="l" t="t" r="r" b="b"/>
            <a:pathLst>
              <a:path w="3420611" h="1508756">
                <a:moveTo>
                  <a:pt x="101600" y="1508756"/>
                </a:moveTo>
                <a:lnTo>
                  <a:pt x="101600" y="1508756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63500" hR="101600" stAng="16200000" swAng="-5400000"/>
                <a:lnTo>
                  <a:pt x="38100" y="1407156"/>
                </a:lnTo>
                <a:arcTo wR="63500" hR="101600" stAng="10800000" swAng="-5400000"/>
                <a:close/>
              </a:path>
            </a:pathLst>
          </a:custGeom>
          <a:solidFill>
            <a:srgbClr val="5EC8F2"/>
          </a:solidFill>
          <a:ln/>
        </p:spPr>
      </p:sp>
      <p:sp>
        <p:nvSpPr>
          <p:cNvPr id="31" name="Text 29"/>
          <p:cNvSpPr/>
          <p:nvPr/>
        </p:nvSpPr>
        <p:spPr>
          <a:xfrm>
            <a:off x="8221807" y="4013039"/>
            <a:ext cx="3016713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Toyota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21807" y="4411808"/>
            <a:ext cx="301671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D3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Usa Flutter en sistemas de infoentretenimiento de sus vehículos.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1807" y="4902129"/>
            <a:ext cx="301671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5EC8F2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caso 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782" y="6238246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6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08 · Más casos: </a:t>
            </a:r>
            <a:r>
              <a:rPr lang="en-US" sz="1200" u="sng" dirty="0">
                <a:solidFill>
                  <a:srgbClr val="8FA6C2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flutter.dev/showcase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GUÍA DE INSTALACIÓN (WINDOWS)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12775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Cinco pasos hasta el primer «flutter doctor»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57" y="1989355"/>
            <a:ext cx="2005265" cy="210818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337" y="2195078"/>
            <a:ext cx="169530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96337" y="2675117"/>
            <a:ext cx="1695306" cy="513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Herramientas 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337" y="3251578"/>
            <a:ext cx="1695306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Instalar Git y VS Code con la extensión «Flutter».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54572" y="1989355"/>
            <a:ext cx="2005355" cy="210818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4952" y="2195078"/>
            <a:ext cx="169539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34952" y="2675117"/>
            <a:ext cx="169539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SDK de Flutter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34952" y="3007767"/>
            <a:ext cx="1695396" cy="87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Descargarlo desde VS Code o el zip de docs.flutter.dev en C:\src\flutter.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93277" y="1989355"/>
            <a:ext cx="2005355" cy="210818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3657" y="2195078"/>
            <a:ext cx="169539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73657" y="2675117"/>
            <a:ext cx="169539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Variable PATH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73657" y="3007767"/>
            <a:ext cx="1695396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Agregar la carpeta flutter\bin al PATH del usuario.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31983" y="1989355"/>
            <a:ext cx="2005355" cy="210818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12362" y="2195078"/>
            <a:ext cx="1695396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E88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12362" y="2675117"/>
            <a:ext cx="169539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 Studio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12362" y="3007767"/>
            <a:ext cx="1695396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 SDK, command-line tools y un emulador (AVD).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67513" y="1986180"/>
            <a:ext cx="2011705" cy="2114532"/>
          </a:xfrm>
          <a:prstGeom prst="roundRect">
            <a:avLst>
              <a:gd name="adj" fmla="val 5050"/>
            </a:avLst>
          </a:prstGeom>
          <a:solidFill>
            <a:srgbClr val="0F2E57"/>
          </a:solidFill>
          <a:ln/>
        </p:spPr>
      </p:sp>
      <p:sp>
        <p:nvSpPr>
          <p:cNvPr id="21" name="Text 19"/>
          <p:cNvSpPr/>
          <p:nvPr/>
        </p:nvSpPr>
        <p:spPr>
          <a:xfrm>
            <a:off x="9545294" y="2189305"/>
            <a:ext cx="1706941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5EC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45294" y="2669344"/>
            <a:ext cx="1706941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45294" y="3001994"/>
            <a:ext cx="1706941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Aceptar licencias y revisar que todo salga en verde.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782" y="4456274"/>
            <a:ext cx="10566436" cy="888820"/>
          </a:xfrm>
          <a:prstGeom prst="roundRect">
            <a:avLst>
              <a:gd name="adj" fmla="val 10002"/>
            </a:avLst>
          </a:prstGeom>
          <a:solidFill>
            <a:srgbClr val="0B1A2E"/>
          </a:solidFill>
          <a:ln/>
        </p:spPr>
        <p:txBody>
          <a:bodyPr wrap="square" lIns="202526" tIns="151762" rIns="0" bIns="126326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4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flutter doctor --android-licenses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4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flutter doctor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09 · En macOS se añade Xcode para compilar a iOS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USO BÁSICO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127751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 comando al emulador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2" y="1935392"/>
            <a:ext cx="5729071" cy="3345295"/>
          </a:xfrm>
          <a:prstGeom prst="roundRect">
            <a:avLst>
              <a:gd name="adj" fmla="val 3037"/>
            </a:avLst>
          </a:prstGeom>
          <a:solidFill>
            <a:srgbClr val="0B1A2E"/>
          </a:solidFill>
          <a:ln/>
        </p:spPr>
        <p:txBody>
          <a:bodyPr wrap="square" lIns="224242" tIns="198842" rIns="67610" bIns="173370" rtlCol="0" anchor="t">
            <a:normAutofit/>
          </a:bodyPr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7C93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crear y entrar al proyecto</a:t>
            </a:r>
            <a:endParaRPr lang="en-US" sz="1300" dirty="0"/>
          </a:p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3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flutter create mis_tareas</a:t>
            </a:r>
            <a:endParaRPr lang="en-US" sz="1300" dirty="0"/>
          </a:p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3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cd mis_tareas</a:t>
            </a:r>
            <a:endParaRPr lang="en-US" sz="1300" dirty="0"/>
          </a:p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7C93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ver dispositivos y ejecutar</a:t>
            </a:r>
            <a:endParaRPr lang="en-US" sz="1300" dirty="0"/>
          </a:p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3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flutter devices</a:t>
            </a:r>
            <a:endParaRPr lang="en-US" sz="1300" dirty="0"/>
          </a:p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3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flutter run</a:t>
            </a:r>
            <a:endParaRPr lang="en-US" sz="1300" dirty="0"/>
          </a:p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7C93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agregar un paquete de pub.dev</a:t>
            </a:r>
            <a:endParaRPr lang="en-US" sz="1300" dirty="0"/>
          </a:p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3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flutter pub add http</a:t>
            </a:r>
            <a:endParaRPr lang="en-US" sz="1300" dirty="0"/>
          </a:p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7C93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generar el instalador Android</a:t>
            </a:r>
            <a:endParaRPr lang="en-US" sz="1300" dirty="0"/>
          </a:p>
          <a:p>
            <a:pPr marL="0" indent="0" algn="l">
              <a:lnSpc>
                <a:spcPts val="2275"/>
              </a:lnSpc>
              <a:buNone/>
            </a:pPr>
            <a:r>
              <a:rPr lang="en-US" sz="13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r>
              <a:rPr lang="en-US" sz="13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flutter build apk --release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99028" y="1938567"/>
            <a:ext cx="4576925" cy="1341311"/>
          </a:xfrm>
          <a:prstGeom prst="roundRect">
            <a:avLst>
              <a:gd name="adj" fmla="val 7338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04753" y="2118947"/>
            <a:ext cx="4290438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Mientras corre la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04753" y="2413540"/>
            <a:ext cx="4290438" cy="71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hot reload (conserva el estado)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hot restart (reinicia)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salir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99028" y="3413230"/>
            <a:ext cx="4576925" cy="1341311"/>
          </a:xfrm>
          <a:prstGeom prst="roundRect">
            <a:avLst>
              <a:gd name="adj" fmla="val 7338"/>
            </a:avLst>
          </a:prstGeom>
          <a:solidFill>
            <a:srgbClr val="FFFFFF"/>
          </a:solidFill>
          <a:ln w="6350">
            <a:solidFill>
              <a:srgbClr val="D6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4753" y="3593610"/>
            <a:ext cx="4290438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Estructura del proyecto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04753" y="3888203"/>
            <a:ext cx="4290438" cy="71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lib/main.dart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nuestro código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pubspec.yaml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dependencias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android/ ios/ web/</a:t>
            </a: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cada plataforma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1719821"/>
            <a:ext cx="512778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EJEMPLO PRÁCTICO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2136360"/>
            <a:ext cx="5127789" cy="153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«Mis tareas»: una app en menos de 40 líneas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2" y="3848063"/>
            <a:ext cx="5127789" cy="61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Escribimos una tarea, la agregamos con el botón </a:t>
            </a:r>
            <a:r>
              <a:rPr lang="en-US" sz="16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</a:t>
            </a: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aparece en la lista. Un solo archivo, </a:t>
            </a:r>
            <a:r>
              <a:rPr lang="en-US" sz="16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lib/main.dart</a:t>
            </a: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82" y="4640368"/>
            <a:ext cx="5588000" cy="31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Conceptos: </a:t>
            </a:r>
            <a:r>
              <a:rPr lang="en-US" sz="16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StatefulWidget</a:t>
            </a: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6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setState</a:t>
            </a: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</a:t>
            </a:r>
            <a:r>
              <a:rPr lang="en-US" sz="1600" b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hot reload</a:t>
            </a:r>
            <a:r>
              <a:rPr lang="en-US" sz="16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782" y="1357939"/>
            <a:ext cx="512778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ÁRBOL DE WIDGETS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782" y="1647478"/>
            <a:ext cx="4978436" cy="3146407"/>
          </a:xfrm>
          <a:prstGeom prst="roundRect">
            <a:avLst>
              <a:gd name="adj" fmla="val 2825"/>
            </a:avLst>
          </a:prstGeom>
          <a:solidFill>
            <a:srgbClr val="0F2E57"/>
          </a:solidFill>
          <a:ln/>
        </p:spPr>
      </p:sp>
      <p:sp>
        <p:nvSpPr>
          <p:cNvPr id="8" name="Text 6"/>
          <p:cNvSpPr/>
          <p:nvPr/>
        </p:nvSpPr>
        <p:spPr>
          <a:xfrm>
            <a:off x="6578564" y="1799828"/>
            <a:ext cx="4761558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3F7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Scaffold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78564" y="2124813"/>
            <a:ext cx="4622872" cy="485089"/>
          </a:xfrm>
          <a:prstGeom prst="roundRect">
            <a:avLst>
              <a:gd name="adj" fmla="val 13090"/>
            </a:avLst>
          </a:prstGeom>
          <a:solidFill>
            <a:srgbClr val="145DA0"/>
          </a:solidFill>
          <a:ln/>
        </p:spPr>
        <p:txBody>
          <a:bodyPr wrap="square" lIns="133747" tIns="108401" rIns="4202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F7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AppBar · «Mis tareas»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78564" y="2686031"/>
            <a:ext cx="4622872" cy="1394294"/>
          </a:xfrm>
          <a:prstGeom prst="roundRect">
            <a:avLst>
              <a:gd name="adj" fmla="val 4554"/>
            </a:avLst>
          </a:prstGeom>
          <a:solidFill>
            <a:srgbClr val="145DA0"/>
          </a:solidFill>
          <a:ln/>
        </p:spPr>
      </p:sp>
      <p:sp>
        <p:nvSpPr>
          <p:cNvPr id="11" name="Text 9"/>
          <p:cNvSpPr/>
          <p:nvPr/>
        </p:nvSpPr>
        <p:spPr>
          <a:xfrm>
            <a:off x="6730909" y="2813031"/>
            <a:ext cx="4447726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F7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Column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30909" y="3107618"/>
            <a:ext cx="4318180" cy="391102"/>
          </a:xfrm>
          <a:prstGeom prst="roundRect">
            <a:avLst>
              <a:gd name="adj" fmla="val 12989"/>
            </a:avLst>
          </a:prstGeom>
          <a:solidFill>
            <a:srgbClr val="1E88E5"/>
          </a:solidFill>
          <a:ln/>
        </p:spPr>
        <p:txBody>
          <a:bodyPr wrap="square" lIns="112121" tIns="74021" rIns="0" bIns="48513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TextField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30909" y="3562220"/>
            <a:ext cx="4318180" cy="391102"/>
          </a:xfrm>
          <a:prstGeom prst="roundRect">
            <a:avLst>
              <a:gd name="adj" fmla="val 12989"/>
            </a:avLst>
          </a:prstGeom>
          <a:solidFill>
            <a:srgbClr val="1E88E5"/>
          </a:solidFill>
          <a:ln/>
        </p:spPr>
        <p:txBody>
          <a:bodyPr wrap="square" lIns="112121" tIns="74021" rIns="0" bIns="48513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ListView → ListTile × 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78564" y="4156453"/>
            <a:ext cx="4622872" cy="485089"/>
          </a:xfrm>
          <a:prstGeom prst="roundRect">
            <a:avLst>
              <a:gd name="adj" fmla="val 13090"/>
            </a:avLst>
          </a:prstGeom>
          <a:solidFill>
            <a:srgbClr val="145DA0"/>
          </a:solidFill>
          <a:ln/>
        </p:spPr>
        <p:txBody>
          <a:bodyPr wrap="square" lIns="133747" tIns="108401" rIns="4202" bIns="830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F7F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FloatingActionButton 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782" y="4870016"/>
            <a:ext cx="5127789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i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Scaffold</a:t>
            </a:r>
            <a:r>
              <a:rPr lang="en-US" sz="1200" i="1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(«andamio») es el molde de una pantalla: tiene huecos para la barra, el cuerpo y el botón flotante.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905142"/>
            <a:ext cx="1613928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CÓDIGO 1/2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2426710" y="812781"/>
            <a:ext cx="5714026" cy="332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estado: guardar y agregar tareas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782" y="1323212"/>
            <a:ext cx="7112000" cy="4171427"/>
          </a:xfrm>
          <a:prstGeom prst="roundRect">
            <a:avLst>
              <a:gd name="adj" fmla="val 2436"/>
            </a:avLst>
          </a:prstGeom>
          <a:solidFill>
            <a:srgbClr val="0B1A2E"/>
          </a:solidFill>
          <a:ln/>
        </p:spPr>
        <p:txBody>
          <a:bodyPr wrap="square" lIns="198806" tIns="173442" rIns="0" bIns="147898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F2C27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'package:flutter/material.dart'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main() =&gt; runApp(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MaterialApp(home: Tareas()));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Tareas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extends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StatefulWidget {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Tareas({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super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.key});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C93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@override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State&lt;Tareas&gt; createState() =&gt; _TareasState();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_TareasState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extends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State&lt;Tareas&gt; {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final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_items = &lt;String&gt;[];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final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_ctrl = TextEditingController();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_agregar() {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(_ctrl.text.trim().isEmpty) 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setState(() =&gt; _items.add(_ctrl.text.trim()));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_ctrl.clear();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7909" y="1323212"/>
            <a:ext cx="3251308" cy="982897"/>
          </a:xfrm>
          <a:prstGeom prst="roundRect">
            <a:avLst>
              <a:gd name="adj" fmla="val 775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7909" y="1323212"/>
            <a:ext cx="3251308" cy="982897"/>
          </a:xfrm>
          <a:custGeom>
            <a:avLst/>
            <a:gdLst/>
            <a:ahLst/>
            <a:cxnLst/>
            <a:rect l="l" t="t" r="r" b="b"/>
            <a:pathLst>
              <a:path w="3251308" h="982897">
                <a:moveTo>
                  <a:pt x="76200" y="982897"/>
                </a:moveTo>
                <a:lnTo>
                  <a:pt x="76200" y="982897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906697"/>
                </a:lnTo>
                <a:arcTo wR="38100" hR="76200" stAng="10800000" swAng="-5400000"/>
                <a:close/>
              </a:path>
            </a:pathLst>
          </a:cu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8340328" y="1475563"/>
            <a:ext cx="29469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40328" y="1726946"/>
            <a:ext cx="2946941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Arranca la app con MaterialApp y nuestra pantalla.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7909" y="2433110"/>
            <a:ext cx="3251308" cy="769486"/>
          </a:xfrm>
          <a:prstGeom prst="roundRect">
            <a:avLst>
              <a:gd name="adj" fmla="val 990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127909" y="2433110"/>
            <a:ext cx="3251308" cy="769486"/>
          </a:xfrm>
          <a:custGeom>
            <a:avLst/>
            <a:gdLst/>
            <a:ahLst/>
            <a:cxnLst/>
            <a:rect l="l" t="t" r="r" b="b"/>
            <a:pathLst>
              <a:path w="3251308" h="769486">
                <a:moveTo>
                  <a:pt x="76200" y="769486"/>
                </a:moveTo>
                <a:lnTo>
                  <a:pt x="76200" y="769486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693286"/>
                </a:lnTo>
                <a:arcTo wR="38100" hR="76200" stAng="10800000" swAng="-5400000"/>
                <a:close/>
              </a:path>
            </a:pathLst>
          </a:cu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8340328" y="2585455"/>
            <a:ext cx="29469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StatefulWidget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40328" y="2836844"/>
            <a:ext cx="303888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Pantalla con datos que cambian: la lista.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7909" y="3329595"/>
            <a:ext cx="3251308" cy="769486"/>
          </a:xfrm>
          <a:prstGeom prst="roundRect">
            <a:avLst>
              <a:gd name="adj" fmla="val 9903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7909" y="3329595"/>
            <a:ext cx="3251308" cy="769486"/>
          </a:xfrm>
          <a:custGeom>
            <a:avLst/>
            <a:gdLst/>
            <a:ahLst/>
            <a:cxnLst/>
            <a:rect l="l" t="t" r="r" b="b"/>
            <a:pathLst>
              <a:path w="3251308" h="769486">
                <a:moveTo>
                  <a:pt x="76200" y="769486"/>
                </a:moveTo>
                <a:lnTo>
                  <a:pt x="76200" y="769486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693286"/>
                </a:lnTo>
                <a:arcTo wR="38100" hR="76200" stAng="10800000" swAng="-5400000"/>
                <a:close/>
              </a:path>
            </a:pathLst>
          </a:custGeom>
          <a:solidFill>
            <a:srgbClr val="1E88E5"/>
          </a:solidFill>
          <a:ln/>
        </p:spPr>
      </p:sp>
      <p:sp>
        <p:nvSpPr>
          <p:cNvPr id="15" name="Text 13"/>
          <p:cNvSpPr/>
          <p:nvPr/>
        </p:nvSpPr>
        <p:spPr>
          <a:xfrm>
            <a:off x="8340328" y="3481946"/>
            <a:ext cx="29469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setState()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0328" y="3733329"/>
            <a:ext cx="294694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D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Avisa a Flutter que redibuje la interfaz.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12 · Archivo: lib/main.dart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905142"/>
            <a:ext cx="164640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CÓDIGO 2/2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2459182" y="812781"/>
            <a:ext cx="4717256" cy="332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interfaz: el método build()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782" y="1323212"/>
            <a:ext cx="7493000" cy="3973260"/>
          </a:xfrm>
          <a:prstGeom prst="roundRect">
            <a:avLst>
              <a:gd name="adj" fmla="val 2557"/>
            </a:avLst>
          </a:prstGeom>
          <a:solidFill>
            <a:srgbClr val="0B1A2E"/>
          </a:solidFill>
          <a:ln/>
        </p:spPr>
        <p:txBody>
          <a:bodyPr wrap="square" lIns="198806" tIns="173442" rIns="0" bIns="147898" rtlCol="0" anchor="t">
            <a:no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C93A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@override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Widget build(BuildContext context) {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Scaffold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appBar: </a:t>
            </a:r>
            <a:r>
              <a:rPr lang="en-US" sz="12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AppBar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(title: 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Text(</a:t>
            </a:r>
            <a:r>
              <a:rPr lang="en-US" sz="1200" dirty="0">
                <a:solidFill>
                  <a:srgbClr val="F2C27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'Mis tareas'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)),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body: </a:t>
            </a:r>
            <a:r>
              <a:rPr lang="en-US" sz="12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Column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(children: [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2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TextField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(controller: _ctrl, onSubmitted: (_) =&gt; _agregar()),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Expanded(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child: </a:t>
            </a:r>
            <a:r>
              <a:rPr lang="en-US" sz="12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ListView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.builder(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itemCount: _items.length,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itemBuilder: (_, i) =&gt; </a:t>
            </a:r>
            <a:r>
              <a:rPr lang="en-US" sz="12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ListTile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(title: Text(_items[i])),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),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),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]),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floatingActionButton: </a:t>
            </a:r>
            <a:r>
              <a:rPr lang="en-US" sz="1200" dirty="0">
                <a:solidFill>
                  <a:srgbClr val="5EC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FloatingActionButton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onPressed: _agregar, child: </a:t>
            </a:r>
            <a:r>
              <a:rPr lang="en-US" sz="1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Icon(Icons.add)),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);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4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E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8909" y="1323212"/>
            <a:ext cx="2870308" cy="1473308"/>
          </a:xfrm>
          <a:prstGeom prst="roundRect">
            <a:avLst>
              <a:gd name="adj" fmla="val 5172"/>
            </a:avLst>
          </a:prstGeom>
          <a:solidFill>
            <a:srgbClr val="0F2E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691" y="1500994"/>
            <a:ext cx="25901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691" y="1765102"/>
            <a:ext cx="2590187" cy="87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flutter run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Agregar 2–3 tareas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Cambiar el título y pulsar </a:t>
            </a:r>
            <a:r>
              <a:rPr lang="en-US" sz="1200" b="1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</a:t>
            </a:r>
            <a:r>
              <a:rPr lang="en-US" sz="1200" dirty="0">
                <a:solidFill>
                  <a:srgbClr val="C9DD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hot reload sin perder la lista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82" y="6238242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8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1127758"/>
            <a:ext cx="10883429" cy="52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1B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¿Cuándo elegir Flutter?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2" y="1986180"/>
            <a:ext cx="5181654" cy="2845143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2" y="1986180"/>
            <a:ext cx="5181654" cy="2845143"/>
          </a:xfrm>
          <a:custGeom>
            <a:avLst/>
            <a:gdLst/>
            <a:ahLst/>
            <a:cxnLst/>
            <a:rect l="l" t="t" r="r" b="b"/>
            <a:pathLst>
              <a:path w="5181654" h="2845143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54" y="0"/>
                </a:lnTo>
                <a:arcTo wR="101600" hR="101600" stAng="16200000" swAng="5400000"/>
                <a:lnTo>
                  <a:pt x="518165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1092128" y="2286366"/>
            <a:ext cx="4761651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65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Ventajas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56136" y="2748632"/>
            <a:ext cx="4690023" cy="1549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2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equipo y un código para varias plataformas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2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Desarrollo rápido gracias al hot reload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2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Interfaz idéntica y fluida en todos lados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2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Gratuito, documentado y con gran comunidad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7564" y="1986180"/>
            <a:ext cx="5181654" cy="2845143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197564" y="1986180"/>
            <a:ext cx="5181654" cy="2845143"/>
          </a:xfrm>
          <a:custGeom>
            <a:avLst/>
            <a:gdLst/>
            <a:ahLst/>
            <a:cxnLst/>
            <a:rect l="l" t="t" r="r" b="b"/>
            <a:pathLst>
              <a:path w="5181654" h="2845143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54" y="0"/>
                </a:lnTo>
                <a:arcTo wR="101600" hR="101600" stAng="16200000" swAng="5400000"/>
                <a:lnTo>
                  <a:pt x="518165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07A1F"/>
          </a:solidFill>
          <a:ln/>
        </p:spPr>
      </p:sp>
      <p:sp>
        <p:nvSpPr>
          <p:cNvPr id="10" name="Text 8"/>
          <p:cNvSpPr/>
          <p:nvPr/>
        </p:nvSpPr>
        <p:spPr>
          <a:xfrm>
            <a:off x="6476910" y="2286366"/>
            <a:ext cx="4761651" cy="36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A8530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Desventajas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40918" y="2748632"/>
            <a:ext cx="4690023" cy="1854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2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Apps más pesadas que una nativa mínima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2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Hay que aprender Dart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2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APIs nativas muy nuevas pueden requerir plugins o código nativo</a:t>
            </a:r>
            <a:endParaRPr lang="en-US" sz="1600" dirty="0"/>
          </a:p>
          <a:p>
            <a:pPr marL="189992" indent="-1899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22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web no es ideal para sitios que dependen del SEO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82" y="6238249"/>
            <a:ext cx="1088333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F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 · Actualización tecnológica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B1A2E"/>
              </a:gs>
              <a:gs pos="60000">
                <a:srgbClr val="0F2E57"/>
              </a:gs>
              <a:gs pos="100000">
                <a:srgbClr val="145DA0"/>
              </a:gs>
            </a:gsLst>
            <a:lin ang="2700000" scaled="0"/>
          </a:gradFill>
          <a:ln/>
        </p:spPr>
      </p:sp>
      <p:pic>
        <p:nvPicPr>
          <p:cNvPr id="3" name="Image 0" descr="diamon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63000" y="1143000"/>
            <a:ext cx="2413000" cy="241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2" y="812788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8CC8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GRACIAS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782" y="2759726"/>
            <a:ext cx="10883429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kern="0" spc="-150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¿Preguntas?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812782" y="5509258"/>
            <a:ext cx="1513104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CC8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Documentación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782" y="5760734"/>
            <a:ext cx="1754765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docs.flutter.dev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81432" y="5509258"/>
            <a:ext cx="161968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CC8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Probar sin instalar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81432" y="5760734"/>
            <a:ext cx="1400536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dartpad.dev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37513" y="5509258"/>
            <a:ext cx="80774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CC8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Paquetes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37513" y="5760734"/>
            <a:ext cx="90833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pub.dev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00808" y="5509258"/>
            <a:ext cx="201910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CC8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Casos de éxito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00808" y="5760734"/>
            <a:ext cx="2352350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3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flutter.dev/showcase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tter – Actualización Tecnológica">
  <a:themeElements>
    <a:clrScheme name="Flutter – Actualización Tecnológica">
      <a:dk1>
        <a:srgbClr val="0E1B2C"/>
      </a:dk1>
      <a:lt1>
        <a:srgbClr val="F5F8FC"/>
      </a:lt1>
      <a:dk2>
        <a:srgbClr val="485260"/>
      </a:dk2>
      <a:lt2>
        <a:srgbClr val="DEE2E7"/>
      </a:lt2>
      <a:accent1>
        <a:srgbClr val="4A5D73"/>
      </a:accent1>
      <a:accent2>
        <a:srgbClr val="1565C0"/>
      </a:accent2>
      <a:accent3>
        <a:srgbClr val="6B7F96"/>
      </a:accent3>
      <a:accent4>
        <a:srgbClr val="0F2E57"/>
      </a:accent4>
      <a:accent5>
        <a:srgbClr val="1E88E5"/>
      </a:accent5>
      <a:accent6>
        <a:srgbClr val="5EC8F2"/>
      </a:accent6>
      <a:hlink>
        <a:srgbClr val="0563C1"/>
      </a:hlink>
      <a:folHlink>
        <a:srgbClr val="954F72"/>
      </a:folHlink>
    </a:clrScheme>
    <a:fontScheme name="Flutter – Actualización Tecnológica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2783</Words>
  <Application>Microsoft Office PowerPoint</Application>
  <PresentationFormat>Panorámica</PresentationFormat>
  <Paragraphs>285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DM Sans</vt:lpstr>
      <vt:lpstr>JetBrains Mono</vt:lpstr>
      <vt:lpstr>Flutter – Actualización Tecnológica</vt:lpstr>
      <vt:lpstr>Flutter</vt:lpstr>
      <vt:lpstr>Lo que veremos en 15 minutos</vt:lpstr>
      <vt:lpstr>De un experimento de Google a estándar multiplataforma</vt:lpstr>
      <vt:lpstr>Un kit de UI que dibuja cada píxel por su cuenta</vt:lpstr>
      <vt:lpstr>Dart es compilado, pero de dos formas</vt:lpstr>
      <vt:lpstr>Todo en Flutter es un widget</vt:lpstr>
      <vt:lpstr>Seis razones por las que se adopta</vt:lpstr>
      <vt:lpstr>Empresas que confían en Flutter</vt:lpstr>
      <vt:lpstr>Cinco pasos hasta el primer «flutter doctor»</vt:lpstr>
      <vt:lpstr>Del comando al emulador</vt:lpstr>
      <vt:lpstr>«Mis tareas»: una app en menos de 40 líneas</vt:lpstr>
      <vt:lpstr>El estado: guardar y agregar tareas</vt:lpstr>
      <vt:lpstr>La interfaz: el método build()</vt:lpstr>
      <vt:lpstr>¿Cuándo elegir Flutter?</vt:lpstr>
      <vt:lpstr>¿Preguntas?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– Actualización Tecnológica</dc:title>
  <dc:subject/>
  <dc:creator/>
  <cp:lastModifiedBy>jairo zubieta</cp:lastModifiedBy>
  <cp:revision>3</cp:revision>
  <dcterms:created xsi:type="dcterms:W3CDTF">2026-10-13T23:34:03Z</dcterms:created>
  <dcterms:modified xsi:type="dcterms:W3CDTF">2026-10-14T00:00:02Z</dcterms:modified>
</cp:coreProperties>
</file>